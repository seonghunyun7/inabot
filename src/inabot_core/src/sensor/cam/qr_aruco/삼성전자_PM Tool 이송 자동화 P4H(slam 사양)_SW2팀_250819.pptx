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8"/>
  </p:notesMasterIdLst>
  <p:sldIdLst>
    <p:sldId id="304" r:id="rId2"/>
    <p:sldId id="309" r:id="rId3"/>
    <p:sldId id="343" r:id="rId4"/>
    <p:sldId id="344" r:id="rId5"/>
    <p:sldId id="345" r:id="rId6"/>
    <p:sldId id="303" r:id="rId7"/>
  </p:sldIdLst>
  <p:sldSz cx="12192000" cy="6858000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4551"/>
    <a:srgbClr val="0070C0"/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19" autoAdjust="0"/>
    <p:restoredTop sz="94660"/>
  </p:normalViewPr>
  <p:slideViewPr>
    <p:cSldViewPr snapToGrid="0">
      <p:cViewPr>
        <p:scale>
          <a:sx n="75" d="100"/>
          <a:sy n="75" d="100"/>
        </p:scale>
        <p:origin x="1968" y="9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291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533" cy="497969"/>
          </a:xfrm>
          <a:prstGeom prst="rect">
            <a:avLst/>
          </a:prstGeom>
        </p:spPr>
        <p:txBody>
          <a:bodyPr vert="horz" lIns="88313" tIns="44156" rIns="88313" bIns="4415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146" y="1"/>
            <a:ext cx="2949532" cy="497969"/>
          </a:xfrm>
          <a:prstGeom prst="rect">
            <a:avLst/>
          </a:prstGeom>
        </p:spPr>
        <p:txBody>
          <a:bodyPr vert="horz" lIns="88313" tIns="44156" rIns="88313" bIns="44156" rtlCol="0"/>
          <a:lstStyle>
            <a:lvl1pPr algn="r">
              <a:defRPr sz="1200"/>
            </a:lvl1pPr>
          </a:lstStyle>
          <a:p>
            <a:fld id="{3EDE045E-597E-4994-9D00-7A6A69A19346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61062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313" tIns="44156" rIns="88313" bIns="44156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480" y="4783895"/>
            <a:ext cx="5445760" cy="3912834"/>
          </a:xfrm>
          <a:prstGeom prst="rect">
            <a:avLst/>
          </a:prstGeom>
        </p:spPr>
        <p:txBody>
          <a:bodyPr vert="horz" lIns="88313" tIns="44156" rIns="88313" bIns="44156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1369"/>
            <a:ext cx="2949533" cy="497969"/>
          </a:xfrm>
          <a:prstGeom prst="rect">
            <a:avLst/>
          </a:prstGeom>
        </p:spPr>
        <p:txBody>
          <a:bodyPr vert="horz" lIns="88313" tIns="44156" rIns="88313" bIns="4415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146" y="9441369"/>
            <a:ext cx="2949532" cy="497969"/>
          </a:xfrm>
          <a:prstGeom prst="rect">
            <a:avLst/>
          </a:prstGeom>
        </p:spPr>
        <p:txBody>
          <a:bodyPr vert="horz" lIns="88313" tIns="44156" rIns="88313" bIns="44156" rtlCol="0" anchor="b"/>
          <a:lstStyle>
            <a:lvl1pPr algn="r">
              <a:defRPr sz="1200"/>
            </a:lvl1pPr>
          </a:lstStyle>
          <a:p>
            <a:fld id="{4DDF811E-A8F0-4E96-852F-598DA64466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214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9971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8ACA9EA-1DBE-4BD8-926A-E2B1FABB8423}"/>
              </a:ext>
            </a:extLst>
          </p:cNvPr>
          <p:cNvSpPr/>
          <p:nvPr userDrawn="1"/>
        </p:nvSpPr>
        <p:spPr>
          <a:xfrm>
            <a:off x="671516" y="1243013"/>
            <a:ext cx="3293266" cy="7464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E56CDF-34D8-4999-91A6-D2EE7BF310FA}"/>
              </a:ext>
            </a:extLst>
          </p:cNvPr>
          <p:cNvSpPr txBox="1"/>
          <p:nvPr userDrawn="1"/>
        </p:nvSpPr>
        <p:spPr>
          <a:xfrm>
            <a:off x="1026417" y="548218"/>
            <a:ext cx="258346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Contents</a:t>
            </a:r>
            <a:endParaRPr lang="en-GB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192C981-2F6A-4215-9F24-B0350FF709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16" y="4043000"/>
            <a:ext cx="3293266" cy="164663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503773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 build="allAtOnce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Box 11"/>
          <p:cNvSpPr txBox="1">
            <a:spLocks noChangeArrowheads="1"/>
          </p:cNvSpPr>
          <p:nvPr userDrawn="1"/>
        </p:nvSpPr>
        <p:spPr bwMode="auto">
          <a:xfrm>
            <a:off x="11370248" y="6524627"/>
            <a:ext cx="660400" cy="24622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9pPr>
          </a:lstStyle>
          <a:p>
            <a:pPr algn="r" eaLnBrk="1" hangingPunct="1"/>
            <a:fld id="{8D9EB45E-1B65-467D-8264-2E423174EB91}" type="slidenum">
              <a:rPr lang="en-US" altLang="ko-KR" sz="1000" b="1">
                <a:solidFill>
                  <a:schemeClr val="tx1">
                    <a:lumMod val="65000"/>
                    <a:lumOff val="35000"/>
                  </a:schemeClr>
                </a:solidFill>
                <a:latin typeface="SpoqaHanSans-Light" panose="020B0300000000000000" pitchFamily="50" charset="-127"/>
                <a:ea typeface="SpoqaHanSans-Light" panose="020B0300000000000000" pitchFamily="50" charset="-127"/>
              </a:rPr>
              <a:pPr algn="r" eaLnBrk="1" hangingPunct="1"/>
              <a:t>‹#›</a:t>
            </a:fld>
            <a:endParaRPr lang="en-US" altLang="ko-KR" sz="1000" b="1" dirty="0">
              <a:solidFill>
                <a:schemeClr val="tx1">
                  <a:lumMod val="65000"/>
                  <a:lumOff val="35000"/>
                </a:schemeClr>
              </a:solidFill>
              <a:latin typeface="SpoqaHanSans-Light" panose="020B0300000000000000" pitchFamily="50" charset="-127"/>
              <a:ea typeface="SpoqaHanSans-Light" panose="020B0300000000000000" pitchFamily="50" charset="-127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74389920-D374-437B-BC4C-ADEBCFEBB510}"/>
              </a:ext>
            </a:extLst>
          </p:cNvPr>
          <p:cNvSpPr txBox="1">
            <a:spLocks/>
          </p:cNvSpPr>
          <p:nvPr userDrawn="1"/>
        </p:nvSpPr>
        <p:spPr>
          <a:xfrm>
            <a:off x="10516686" y="6463034"/>
            <a:ext cx="1278699" cy="35955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1000"/>
              </a:lnSpc>
            </a:pPr>
            <a:r>
              <a:rPr lang="en-US" altLang="ko-KR" sz="900" b="1" dirty="0">
                <a:solidFill>
                  <a:schemeClr val="bg2">
                    <a:lumMod val="90000"/>
                  </a:schemeClr>
                </a:solidFill>
                <a:latin typeface="Arial Narrow" panose="020B0606020202030204" pitchFamily="34" charset="0"/>
              </a:rPr>
              <a:t>THE BEST </a:t>
            </a:r>
            <a:r>
              <a:rPr lang="en-US" altLang="ko-KR" sz="700" b="1" dirty="0">
                <a:solidFill>
                  <a:schemeClr val="bg2">
                    <a:lumMod val="90000"/>
                  </a:schemeClr>
                </a:solidFill>
                <a:latin typeface="Arial Narrow" panose="020B0606020202030204" pitchFamily="34" charset="0"/>
              </a:rPr>
              <a:t>for the</a:t>
            </a:r>
          </a:p>
          <a:p>
            <a:pPr>
              <a:lnSpc>
                <a:spcPts val="1000"/>
              </a:lnSpc>
            </a:pPr>
            <a:r>
              <a:rPr lang="en-US" altLang="ko-KR" sz="900" b="1" dirty="0">
                <a:solidFill>
                  <a:schemeClr val="bg2">
                    <a:lumMod val="90000"/>
                  </a:schemeClr>
                </a:solidFill>
                <a:latin typeface="Arial Narrow" panose="020B0606020202030204" pitchFamily="34" charset="0"/>
              </a:rPr>
              <a:t>BETTER WORLD</a:t>
            </a:r>
            <a:endParaRPr lang="ko-KR" altLang="en-US" sz="900" b="1" dirty="0">
              <a:solidFill>
                <a:schemeClr val="bg2">
                  <a:lumMod val="90000"/>
                </a:schemeClr>
              </a:solidFill>
              <a:latin typeface="Arial Narrow" panose="020B0606020202030204" pitchFamily="34" charset="0"/>
            </a:endParaRPr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149502" y="6642270"/>
            <a:ext cx="8290891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 userDrawn="1"/>
        </p:nvSpPr>
        <p:spPr>
          <a:xfrm>
            <a:off x="0" y="0"/>
            <a:ext cx="12192000" cy="7464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DEAD255-7D6A-4D99-B0CB-9591AC2685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7570" y="6642270"/>
            <a:ext cx="789855" cy="136378"/>
          </a:xfrm>
          <a:prstGeom prst="rect">
            <a:avLst/>
          </a:prstGeom>
        </p:spPr>
      </p:pic>
      <p:cxnSp>
        <p:nvCxnSpPr>
          <p:cNvPr id="17" name="直接连接符 10">
            <a:extLst>
              <a:ext uri="{FF2B5EF4-FFF2-40B4-BE49-F238E27FC236}">
                <a16:creationId xmlns:a16="http://schemas.microsoft.com/office/drawing/2014/main" id="{7C052628-3C72-4519-974C-9732051C5497}"/>
              </a:ext>
            </a:extLst>
          </p:cNvPr>
          <p:cNvCxnSpPr/>
          <p:nvPr userDrawn="1"/>
        </p:nvCxnSpPr>
        <p:spPr>
          <a:xfrm flipV="1">
            <a:off x="288388" y="57325"/>
            <a:ext cx="0" cy="1018633"/>
          </a:xfrm>
          <a:prstGeom prst="line">
            <a:avLst/>
          </a:prstGeom>
          <a:ln w="762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1">
            <a:extLst>
              <a:ext uri="{FF2B5EF4-FFF2-40B4-BE49-F238E27FC236}">
                <a16:creationId xmlns:a16="http://schemas.microsoft.com/office/drawing/2014/main" id="{FEF549F4-F73B-48F1-B70B-F6E52850B0F7}"/>
              </a:ext>
            </a:extLst>
          </p:cNvPr>
          <p:cNvCxnSpPr/>
          <p:nvPr userDrawn="1"/>
        </p:nvCxnSpPr>
        <p:spPr>
          <a:xfrm>
            <a:off x="423390" y="58811"/>
            <a:ext cx="0" cy="51021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438EE7E5-0C7A-4CA2-A6F0-65E744EAE26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" y="6506947"/>
            <a:ext cx="2197654" cy="29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70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지막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4" name="직사각형 3"/>
          <p:cNvSpPr/>
          <p:nvPr userDrawn="1"/>
        </p:nvSpPr>
        <p:spPr>
          <a:xfrm>
            <a:off x="0" y="0"/>
            <a:ext cx="12192000" cy="7464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6" name="직사각형 5"/>
          <p:cNvSpPr/>
          <p:nvPr userDrawn="1"/>
        </p:nvSpPr>
        <p:spPr>
          <a:xfrm>
            <a:off x="0" y="6311570"/>
            <a:ext cx="12192000" cy="546433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D70E7FB-8960-433C-8CE5-1E47602BB28A}"/>
              </a:ext>
            </a:extLst>
          </p:cNvPr>
          <p:cNvGrpSpPr/>
          <p:nvPr userDrawn="1"/>
        </p:nvGrpSpPr>
        <p:grpSpPr>
          <a:xfrm>
            <a:off x="3936336" y="6408957"/>
            <a:ext cx="4120200" cy="369332"/>
            <a:chOff x="3920386" y="6405832"/>
            <a:chExt cx="4120200" cy="369332"/>
          </a:xfrm>
        </p:grpSpPr>
        <p:sp>
          <p:nvSpPr>
            <p:cNvPr id="8" name="TextBox 7"/>
            <p:cNvSpPr txBox="1"/>
            <p:nvPr/>
          </p:nvSpPr>
          <p:spPr>
            <a:xfrm>
              <a:off x="3920386" y="6405832"/>
              <a:ext cx="13260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THE BEST</a:t>
              </a:r>
              <a:endParaRPr lang="ko-KR" altLang="en-US" sz="1800" b="1" dirty="0">
                <a:solidFill>
                  <a:schemeClr val="bg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250959" y="6452637"/>
              <a:ext cx="7409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i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times" panose="02020603050405020304" pitchFamily="18" charset="0"/>
                </a:rPr>
                <a:t>for the</a:t>
              </a:r>
              <a:endParaRPr lang="ko-KR" altLang="en-US" sz="1400" b="1" i="1" dirty="0">
                <a:solidFill>
                  <a:schemeClr val="bg1"/>
                </a:solidFill>
                <a:latin typeface="Roboto" panose="02000000000000000000" pitchFamily="2" charset="0"/>
                <a:cs typeface="times" panose="02020603050405020304" pitchFamily="18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996437" y="6405832"/>
              <a:ext cx="2044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BETTER WORLD</a:t>
              </a:r>
              <a:endParaRPr lang="ko-KR" altLang="en-US" sz="1800" b="1" dirty="0">
                <a:solidFill>
                  <a:schemeClr val="bg1"/>
                </a:solidFill>
                <a:latin typeface="Roboto" panose="02000000000000000000" pitchFamily="2" charset="0"/>
              </a:endParaRPr>
            </a:p>
          </p:txBody>
        </p:sp>
      </p:grp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57423" y="2773170"/>
            <a:ext cx="5278027" cy="109517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527E9C2-C582-4D79-83C1-E4BE9E83907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6418" y="3915149"/>
            <a:ext cx="4460036" cy="56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89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036678-CF4E-49D2-B7A9-6E2A7AE57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E0AC2-4595-4986-96DD-F2EF481AE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F3810-4818-4036-83D6-16FF447CDA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DCEFA-5121-41A0-A3CA-1DED70545F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44321-F1F5-4ECF-AC7F-FD0C63979E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DA72CC4-6EC0-482F-B553-24C43077EBB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9465" cy="595050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2669B51-5A00-4780-B940-B7E634B975A9}"/>
              </a:ext>
            </a:extLst>
          </p:cNvPr>
          <p:cNvSpPr/>
          <p:nvPr userDrawn="1"/>
        </p:nvSpPr>
        <p:spPr>
          <a:xfrm>
            <a:off x="10135182" y="6425007"/>
            <a:ext cx="188064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ko-KR" sz="1000" dirty="0" err="1">
                <a:latin typeface="Roboto Medium" panose="02000000000000000000" pitchFamily="2" charset="0"/>
                <a:ea typeface="Roboto Medium" panose="02000000000000000000" pitchFamily="2" charset="0"/>
                <a:cs typeface="Arial" panose="020B0604020202020204" pitchFamily="34" charset="0"/>
              </a:rPr>
              <a:t>Inatech</a:t>
            </a:r>
            <a:r>
              <a:rPr lang="en-US" altLang="ko-KR" sz="1000" dirty="0">
                <a:latin typeface="Roboto Medium" panose="02000000000000000000" pitchFamily="2" charset="0"/>
                <a:ea typeface="Roboto Medium" panose="02000000000000000000" pitchFamily="2" charset="0"/>
                <a:cs typeface="Arial" panose="020B0604020202020204" pitchFamily="34" charset="0"/>
              </a:rPr>
              <a:t> Co., Ltd. 2022. Ver4.2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938A5BC-AF13-497B-B1EB-D5BBFDB6DEC4}"/>
              </a:ext>
            </a:extLst>
          </p:cNvPr>
          <p:cNvSpPr/>
          <p:nvPr userDrawn="1"/>
        </p:nvSpPr>
        <p:spPr>
          <a:xfrm>
            <a:off x="0" y="0"/>
            <a:ext cx="12192000" cy="7464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24736D4-A1F9-4383-BADB-E7AFB425DEA1}"/>
              </a:ext>
            </a:extLst>
          </p:cNvPr>
          <p:cNvSpPr/>
          <p:nvPr userDrawn="1"/>
        </p:nvSpPr>
        <p:spPr>
          <a:xfrm>
            <a:off x="0" y="5869389"/>
            <a:ext cx="12192000" cy="3987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5E7A921-AF2E-4E87-96EA-54A9D5836489}"/>
              </a:ext>
            </a:extLst>
          </p:cNvPr>
          <p:cNvGrpSpPr/>
          <p:nvPr userDrawn="1"/>
        </p:nvGrpSpPr>
        <p:grpSpPr>
          <a:xfrm>
            <a:off x="4125156" y="5902431"/>
            <a:ext cx="3939153" cy="338554"/>
            <a:chOff x="4125156" y="5902431"/>
            <a:chExt cx="3939153" cy="33855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E515D42-B7AD-4CFD-A3B1-BC57D0D5FF0A}"/>
                </a:ext>
              </a:extLst>
            </p:cNvPr>
            <p:cNvSpPr txBox="1"/>
            <p:nvPr/>
          </p:nvSpPr>
          <p:spPr>
            <a:xfrm>
              <a:off x="4125156" y="5902431"/>
              <a:ext cx="11961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THE BEST</a:t>
              </a:r>
              <a:endParaRPr lang="ko-KR" altLang="en-US" sz="1600" b="1" dirty="0">
                <a:solidFill>
                  <a:schemeClr val="bg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188B32C-133C-4171-B9A3-55766341382E}"/>
                </a:ext>
              </a:extLst>
            </p:cNvPr>
            <p:cNvSpPr txBox="1"/>
            <p:nvPr/>
          </p:nvSpPr>
          <p:spPr>
            <a:xfrm>
              <a:off x="5422915" y="5925514"/>
              <a:ext cx="705641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00" b="1" i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times" panose="02020603050405020304" pitchFamily="18" charset="0"/>
                </a:rPr>
                <a:t>for the</a:t>
              </a:r>
              <a:endParaRPr lang="ko-KR" altLang="en-US" sz="1300" b="1" i="1" dirty="0">
                <a:solidFill>
                  <a:schemeClr val="bg1"/>
                </a:solidFill>
                <a:latin typeface="Roboto" panose="02000000000000000000" pitchFamily="2" charset="0"/>
                <a:cs typeface="times" panose="02020603050405020304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59120D3-8FDC-46E3-8E06-48C3EAB07D4C}"/>
                </a:ext>
              </a:extLst>
            </p:cNvPr>
            <p:cNvSpPr txBox="1"/>
            <p:nvPr/>
          </p:nvSpPr>
          <p:spPr>
            <a:xfrm>
              <a:off x="6230153" y="5902431"/>
              <a:ext cx="18341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BETTER WORLD</a:t>
              </a:r>
              <a:endParaRPr lang="ko-KR" altLang="en-US" sz="1600" b="1" dirty="0">
                <a:solidFill>
                  <a:schemeClr val="bg1"/>
                </a:solidFill>
                <a:latin typeface="Roboto" panose="02000000000000000000" pitchFamily="2" charset="0"/>
              </a:endParaRPr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E7A65C5A-7E41-4974-BFB5-B0CFCF00414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6433230"/>
            <a:ext cx="1323975" cy="2286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3ADA641-70FA-4A06-9032-F5645781767A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729" y="6397606"/>
            <a:ext cx="2197654" cy="29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462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676" r:id="rId3"/>
    <p:sldLayoutId id="2147483675" r:id="rId4"/>
  </p:sldLayoutIdLst>
  <p:txStyles>
    <p:titleStyle>
      <a:lvl1pPr algn="l" defTabSz="914423" rtl="0" eaLnBrk="1" latinLnBrk="1" hangingPunct="1">
        <a:lnSpc>
          <a:spcPct val="90000"/>
        </a:lnSpc>
        <a:spcBef>
          <a:spcPct val="0"/>
        </a:spcBef>
        <a:buNone/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4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7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sick.com/kr/ko/catalog/products/safety/safety-laser-scanners/nanoscan3/NANS3-CAAZ30AA1/p/p675489?tab=detail#technical-details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D26F4D-ECF2-414A-8E6F-46CB31A444C0}"/>
              </a:ext>
            </a:extLst>
          </p:cNvPr>
          <p:cNvSpPr txBox="1"/>
          <p:nvPr/>
        </p:nvSpPr>
        <p:spPr>
          <a:xfrm>
            <a:off x="2121717" y="1462615"/>
            <a:ext cx="7948566" cy="1138773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ko-KR" altLang="en-US" sz="3600" b="1" dirty="0">
                <a:solidFill>
                  <a:srgbClr val="3B4551"/>
                </a:solidFill>
                <a:latin typeface="Arial Nova" panose="020B0504020202020204" pitchFamily="34" charset="0"/>
                <a:ea typeface="Artifakt Element Black" panose="020B0A03050000020004" pitchFamily="34" charset="0"/>
              </a:rPr>
              <a:t>삼성전자</a:t>
            </a:r>
            <a:r>
              <a:rPr lang="en-US" altLang="ko-KR" sz="3600" b="1" dirty="0">
                <a:solidFill>
                  <a:srgbClr val="3B4551"/>
                </a:solidFill>
                <a:latin typeface="Arial Nova" panose="020B0504020202020204" pitchFamily="34" charset="0"/>
                <a:ea typeface="Artifakt Element Black" panose="020B0A03050000020004" pitchFamily="34" charset="0"/>
              </a:rPr>
              <a:t>_PM Tool </a:t>
            </a:r>
            <a:r>
              <a:rPr lang="ko-KR" altLang="en-US" sz="3600" b="1" dirty="0">
                <a:solidFill>
                  <a:srgbClr val="3B4551"/>
                </a:solidFill>
                <a:latin typeface="Arial Nova" panose="020B0504020202020204" pitchFamily="34" charset="0"/>
                <a:ea typeface="Artifakt Element Black" panose="020B0A03050000020004" pitchFamily="34" charset="0"/>
              </a:rPr>
              <a:t>이송 자동화  </a:t>
            </a:r>
            <a:r>
              <a:rPr lang="en-US" altLang="ko-KR" sz="3600" b="1" dirty="0">
                <a:solidFill>
                  <a:srgbClr val="3B4551"/>
                </a:solidFill>
                <a:latin typeface="Arial Nova" panose="020B0504020202020204" pitchFamily="34" charset="0"/>
                <a:ea typeface="Artifakt Element Black" panose="020B0A03050000020004" pitchFamily="34" charset="0"/>
              </a:rPr>
              <a:t>P4H</a:t>
            </a:r>
            <a:br>
              <a:rPr lang="en-US" altLang="ko-KR" sz="3600" b="1" dirty="0">
                <a:solidFill>
                  <a:srgbClr val="3B4551"/>
                </a:solidFill>
                <a:latin typeface="Arial Nova" panose="020B0504020202020204" pitchFamily="34" charset="0"/>
                <a:ea typeface="Artifakt Element Black" panose="020B0A03050000020004" pitchFamily="34" charset="0"/>
              </a:rPr>
            </a:br>
            <a:r>
              <a:rPr lang="ko-KR" altLang="en-US" sz="3200" b="1" dirty="0">
                <a:solidFill>
                  <a:srgbClr val="3B4551"/>
                </a:solidFill>
                <a:latin typeface="Arial Nova" panose="020B0504020202020204" pitchFamily="34" charset="0"/>
                <a:ea typeface="Artifakt Element Black" panose="020B0A03050000020004" pitchFamily="34" charset="0"/>
              </a:rPr>
              <a:t> </a:t>
            </a:r>
            <a:r>
              <a:rPr lang="en-US" altLang="ko-KR" sz="3200" b="1" dirty="0">
                <a:solidFill>
                  <a:srgbClr val="3B4551"/>
                </a:solidFill>
                <a:latin typeface="Arial Nova" panose="020B0504020202020204" pitchFamily="34" charset="0"/>
                <a:ea typeface="Artifakt Element Black" panose="020B0A03050000020004" pitchFamily="34" charset="0"/>
              </a:rPr>
              <a:t>(slam </a:t>
            </a:r>
            <a:r>
              <a:rPr lang="ko-KR" altLang="en-US" sz="3200" b="1" dirty="0">
                <a:solidFill>
                  <a:srgbClr val="3B4551"/>
                </a:solidFill>
                <a:latin typeface="Arial Nova" panose="020B0504020202020204" pitchFamily="34" charset="0"/>
                <a:ea typeface="Artifakt Element Black" panose="020B0A03050000020004" pitchFamily="34" charset="0"/>
              </a:rPr>
              <a:t>사양</a:t>
            </a:r>
            <a:r>
              <a:rPr lang="en-US" altLang="ko-KR" sz="3200" b="1" dirty="0">
                <a:solidFill>
                  <a:srgbClr val="3B4551"/>
                </a:solidFill>
                <a:latin typeface="Arial Nova" panose="020B0504020202020204" pitchFamily="34" charset="0"/>
                <a:ea typeface="Artifakt Element Black" panose="020B0A03050000020004" pitchFamily="34" charset="0"/>
              </a:rPr>
              <a:t>)</a:t>
            </a:r>
            <a:endParaRPr lang="ko-KR" altLang="en-US" sz="1400" b="1" dirty="0">
              <a:solidFill>
                <a:srgbClr val="3B4551"/>
              </a:solidFill>
              <a:latin typeface="Arial Nova" panose="020B05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CF0BA1-A16E-4E5E-BC2B-927B279B8153}"/>
              </a:ext>
            </a:extLst>
          </p:cNvPr>
          <p:cNvSpPr txBox="1"/>
          <p:nvPr/>
        </p:nvSpPr>
        <p:spPr>
          <a:xfrm>
            <a:off x="2846434" y="4072208"/>
            <a:ext cx="6499132" cy="4616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3B4551"/>
                </a:solidFill>
                <a:latin typeface="Arial Nova" panose="020B0504020202020204" pitchFamily="34" charset="0"/>
                <a:ea typeface="Artifakt Element Black" panose="020B0A03050000020004" pitchFamily="34" charset="0"/>
              </a:rPr>
              <a:t>2025. 8. 18</a:t>
            </a:r>
            <a:endParaRPr lang="ko-KR" altLang="en-US" sz="2400" b="1" dirty="0">
              <a:solidFill>
                <a:srgbClr val="3B4551"/>
              </a:solidFill>
              <a:latin typeface="Arial Nova" panose="020B05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253070-741D-4DF2-A038-14C459927FDB}"/>
              </a:ext>
            </a:extLst>
          </p:cNvPr>
          <p:cNvSpPr txBox="1"/>
          <p:nvPr/>
        </p:nvSpPr>
        <p:spPr>
          <a:xfrm>
            <a:off x="2846434" y="3475167"/>
            <a:ext cx="6499132" cy="4616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3B4551"/>
                </a:solidFill>
                <a:latin typeface="Arial Nova" panose="020B0504020202020204" pitchFamily="34" charset="0"/>
                <a:ea typeface="Artifakt Element Black" panose="020B0A03050000020004" pitchFamily="34" charset="0"/>
              </a:rPr>
              <a:t>(S/W 2</a:t>
            </a:r>
            <a:r>
              <a:rPr lang="ko-KR" altLang="en-US" sz="2400" b="1" dirty="0">
                <a:solidFill>
                  <a:srgbClr val="3B4551"/>
                </a:solidFill>
                <a:latin typeface="Arial Nova" panose="020B0504020202020204" pitchFamily="34" charset="0"/>
                <a:ea typeface="Artifakt Element Black" panose="020B0A03050000020004" pitchFamily="34" charset="0"/>
              </a:rPr>
              <a:t>팀</a:t>
            </a:r>
            <a:r>
              <a:rPr lang="en-US" altLang="ko-KR" sz="2400" b="1" dirty="0">
                <a:solidFill>
                  <a:srgbClr val="3B4551"/>
                </a:solidFill>
                <a:latin typeface="Arial Nova" panose="020B0504020202020204" pitchFamily="34" charset="0"/>
                <a:ea typeface="Artifakt Element Black" panose="020B0A03050000020004" pitchFamily="34" charset="0"/>
              </a:rPr>
              <a:t>)</a:t>
            </a:r>
            <a:endParaRPr lang="ko-KR" altLang="en-US" sz="2400" b="1" dirty="0">
              <a:solidFill>
                <a:srgbClr val="3B4551"/>
              </a:solidFill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934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F36DA3-2E98-418F-8072-ECFA73E5ADAA}"/>
              </a:ext>
            </a:extLst>
          </p:cNvPr>
          <p:cNvSpPr txBox="1"/>
          <p:nvPr/>
        </p:nvSpPr>
        <p:spPr>
          <a:xfrm>
            <a:off x="4222560" y="2147456"/>
            <a:ext cx="7465463" cy="70788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457200" indent="-457200">
              <a:buAutoNum type="arabicPeriod"/>
            </a:pPr>
            <a:r>
              <a:rPr lang="en-US" altLang="ko-KR" sz="2000" b="1" dirty="0">
                <a:solidFill>
                  <a:srgbClr val="3B4551"/>
                </a:solidFill>
                <a:latin typeface="Arial" panose="020B0604020202020204" pitchFamily="34" charset="0"/>
                <a:ea typeface="Artifakt Element Black" panose="020B0A03050000020004" pitchFamily="34" charset="0"/>
                <a:cs typeface="Arial" panose="020B0604020202020204" pitchFamily="34" charset="0"/>
              </a:rPr>
              <a:t>SLAM </a:t>
            </a:r>
            <a:r>
              <a:rPr lang="ko-KR" altLang="en-US" sz="2000" b="1" dirty="0">
                <a:solidFill>
                  <a:srgbClr val="3B4551"/>
                </a:solidFill>
                <a:latin typeface="Arial" panose="020B0604020202020204" pitchFamily="34" charset="0"/>
                <a:ea typeface="Artifakt Element Black" panose="020B0A03050000020004" pitchFamily="34" charset="0"/>
                <a:cs typeface="Arial" panose="020B0604020202020204" pitchFamily="34" charset="0"/>
              </a:rPr>
              <a:t>알고리즘 </a:t>
            </a:r>
            <a:r>
              <a:rPr lang="en-US" altLang="ko-KR" sz="2000" b="1" dirty="0">
                <a:solidFill>
                  <a:srgbClr val="3B4551"/>
                </a:solidFill>
                <a:latin typeface="Arial" panose="020B0604020202020204" pitchFamily="34" charset="0"/>
                <a:ea typeface="Artifakt Element Black" panose="020B0A03050000020004" pitchFamily="34" charset="0"/>
                <a:cs typeface="Arial" panose="020B0604020202020204" pitchFamily="34" charset="0"/>
              </a:rPr>
              <a:t>Spec.</a:t>
            </a:r>
            <a:r>
              <a:rPr lang="ko-KR" altLang="en-US" sz="2000" b="1" dirty="0">
                <a:solidFill>
                  <a:srgbClr val="3B4551"/>
                </a:solidFill>
                <a:latin typeface="Arial" panose="020B0604020202020204" pitchFamily="34" charset="0"/>
                <a:ea typeface="Artifakt Element Black" panose="020B0A03050000020004" pitchFamily="34" charset="0"/>
                <a:cs typeface="Arial" panose="020B0604020202020204" pitchFamily="34" charset="0"/>
              </a:rPr>
              <a:t> 정의</a:t>
            </a:r>
            <a:endParaRPr lang="en-US" altLang="ko-KR" sz="2000" b="1" dirty="0">
              <a:solidFill>
                <a:srgbClr val="3B4551"/>
              </a:solidFill>
              <a:latin typeface="Arial" panose="020B0604020202020204" pitchFamily="34" charset="0"/>
              <a:ea typeface="Artifakt Element Black" panose="020B0A030500000200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ko-KR" altLang="en-US" sz="2000" b="1" dirty="0">
                <a:solidFill>
                  <a:srgbClr val="3B45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대차 인식</a:t>
            </a:r>
            <a:r>
              <a:rPr lang="en-US" altLang="ko-KR" sz="2000" b="1" dirty="0">
                <a:solidFill>
                  <a:srgbClr val="3B45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ko-KR" altLang="en-US" sz="2000" b="1" dirty="0">
                <a:solidFill>
                  <a:srgbClr val="3B45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도킹</a:t>
            </a:r>
            <a:r>
              <a:rPr lang="en-US" altLang="ko-KR" sz="2000" b="1" dirty="0">
                <a:solidFill>
                  <a:srgbClr val="3B45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ko-KR" altLang="en-US" sz="2000" b="1" dirty="0">
                <a:solidFill>
                  <a:srgbClr val="3B45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문의사항</a:t>
            </a:r>
          </a:p>
        </p:txBody>
      </p:sp>
    </p:spTree>
    <p:extLst>
      <p:ext uri="{BB962C8B-B14F-4D97-AF65-F5344CB8AC3E}">
        <p14:creationId xmlns:p14="http://schemas.microsoft.com/office/powerpoint/2010/main" val="1072086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6E53CD-D6BD-58BA-292E-9D7837CD29FB}"/>
              </a:ext>
            </a:extLst>
          </p:cNvPr>
          <p:cNvSpPr txBox="1"/>
          <p:nvPr/>
        </p:nvSpPr>
        <p:spPr>
          <a:xfrm>
            <a:off x="727921" y="592059"/>
            <a:ext cx="8687012" cy="52322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altLang="ko-KR" sz="2800" b="1" dirty="0">
                <a:solidFill>
                  <a:srgbClr val="3B45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rtifakt Element Black" panose="020B0A03050000020004" pitchFamily="34" charset="0"/>
                <a:cs typeface="Arial" panose="020B0604020202020204" pitchFamily="34" charset="0"/>
              </a:rPr>
              <a:t>SLAM </a:t>
            </a:r>
            <a:r>
              <a:rPr lang="ko-KR" altLang="en-US" sz="2800" b="1" dirty="0">
                <a:solidFill>
                  <a:srgbClr val="3B45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rtifakt Element Black" panose="020B0A03050000020004" pitchFamily="34" charset="0"/>
                <a:cs typeface="Arial" panose="020B0604020202020204" pitchFamily="34" charset="0"/>
              </a:rPr>
              <a:t>사양</a:t>
            </a:r>
            <a:endParaRPr lang="ko-KR" altLang="en-US" sz="2800" b="1" dirty="0">
              <a:solidFill>
                <a:srgbClr val="3B455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49F8DB-815F-8186-5F75-1CC7DD04BDD2}"/>
              </a:ext>
            </a:extLst>
          </p:cNvPr>
          <p:cNvSpPr txBox="1"/>
          <p:nvPr/>
        </p:nvSpPr>
        <p:spPr>
          <a:xfrm>
            <a:off x="727921" y="1270042"/>
            <a:ext cx="5129954" cy="1532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975" lvl="0" indent="-180975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ko-KR" altLang="en-US" sz="1600" b="1" dirty="0">
                <a:solidFill>
                  <a:srgbClr val="000000"/>
                </a:solidFill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개요</a:t>
            </a:r>
            <a:br>
              <a:rPr lang="en-US" altLang="ko-KR" sz="1600" b="1" dirty="0">
                <a:solidFill>
                  <a:srgbClr val="000000"/>
                </a:solidFill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</a:br>
            <a:r>
              <a:rPr lang="en-US" altLang="ko-KR" sz="1200" dirty="0">
                <a:solidFill>
                  <a:srgbClr val="000000"/>
                </a:solidFill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2D LiDAR </a:t>
            </a:r>
            <a:r>
              <a:rPr lang="ko-KR" altLang="en-US" sz="1200" dirty="0">
                <a:solidFill>
                  <a:srgbClr val="000000"/>
                </a:solidFill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및 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Odom </a:t>
            </a:r>
            <a:r>
              <a:rPr lang="ko-KR" altLang="en-US" sz="1200" dirty="0">
                <a:solidFill>
                  <a:srgbClr val="000000"/>
                </a:solidFill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정보를 기반으로 고 정밀 실내외 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SLAM</a:t>
            </a:r>
            <a:r>
              <a:rPr lang="ko-KR" altLang="en-US" sz="1200" dirty="0">
                <a:solidFill>
                  <a:srgbClr val="000000"/>
                </a:solidFill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을 수행하며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, </a:t>
            </a:r>
            <a:r>
              <a:rPr lang="ko-KR" altLang="en-US" sz="1200" dirty="0">
                <a:solidFill>
                  <a:srgbClr val="000000"/>
                </a:solidFill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포인트 클라우드 기반 지도 생성을 통해 대규모 공간</a:t>
            </a:r>
            <a:br>
              <a:rPr lang="en-US" altLang="ko-KR" sz="1200" dirty="0">
                <a:solidFill>
                  <a:srgbClr val="000000"/>
                </a:solidFill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</a:br>
            <a:r>
              <a:rPr lang="en-US" altLang="ko-KR" sz="1200" dirty="0">
                <a:solidFill>
                  <a:srgbClr val="000000"/>
                </a:solidFill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(</a:t>
            </a:r>
            <a:r>
              <a:rPr lang="ko-KR" altLang="en-US" sz="1200" dirty="0">
                <a:solidFill>
                  <a:srgbClr val="000000"/>
                </a:solidFill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최대 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600m × 700m)</a:t>
            </a:r>
            <a:r>
              <a:rPr lang="ko-KR" altLang="en-US" sz="1200" dirty="0">
                <a:solidFill>
                  <a:srgbClr val="000000"/>
                </a:solidFill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을 정밀하게 매핑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ko-KR" altLang="en-US" sz="1200" dirty="0">
                <a:solidFill>
                  <a:srgbClr val="000000"/>
                </a:solidFill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가능함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.</a:t>
            </a:r>
            <a:endParaRPr lang="en-US" altLang="ko-KR" b="1" dirty="0">
              <a:solidFill>
                <a:srgbClr val="000000"/>
              </a:solidFill>
              <a:latin typeface="+mj-lt"/>
              <a:ea typeface="굴림" panose="020B0600000101010101" pitchFamily="50" charset="-127"/>
              <a:cs typeface="굴림" panose="020B0600000101010101" pitchFamily="50" charset="-127"/>
            </a:endParaRPr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altLang="ko-KR" sz="1200" b="1" dirty="0">
                <a:solidFill>
                  <a:srgbClr val="000000"/>
                </a:solidFill>
                <a:latin typeface="+mj-lt"/>
                <a:ea typeface="굴림" panose="020B0600000101010101" pitchFamily="50" charset="-127"/>
              </a:rPr>
              <a:t>Graph Slam </a:t>
            </a:r>
            <a:r>
              <a:rPr lang="ko-KR" altLang="en-US" sz="1200" b="1" dirty="0">
                <a:solidFill>
                  <a:srgbClr val="000000"/>
                </a:solidFill>
                <a:latin typeface="+mj-lt"/>
                <a:ea typeface="굴림" panose="020B0600000101010101" pitchFamily="50" charset="-127"/>
              </a:rPr>
              <a:t>알고리즘</a:t>
            </a:r>
            <a:r>
              <a:rPr lang="en-US" altLang="ko-KR" sz="1200" b="1" dirty="0">
                <a:solidFill>
                  <a:srgbClr val="000000"/>
                </a:solidFill>
                <a:latin typeface="+mj-lt"/>
                <a:ea typeface="굴림" panose="020B0600000101010101" pitchFamily="50" charset="-127"/>
              </a:rPr>
              <a:t>(</a:t>
            </a:r>
            <a:r>
              <a:rPr lang="ko-KR" altLang="ko-KR" sz="1200" b="1" dirty="0">
                <a:solidFill>
                  <a:srgbClr val="000000"/>
                </a:solidFill>
                <a:latin typeface="+mj-lt"/>
                <a:ea typeface="굴림" panose="020B0600000101010101" pitchFamily="50" charset="-127"/>
              </a:rPr>
              <a:t>나비프라 자체 개발</a:t>
            </a:r>
            <a:r>
              <a:rPr lang="en-US" altLang="ko-KR" sz="1200" b="1" dirty="0">
                <a:solidFill>
                  <a:srgbClr val="000000"/>
                </a:solidFill>
                <a:latin typeface="+mj-lt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A3ED7B-42E5-1768-374D-730F75DCEF9B}"/>
              </a:ext>
            </a:extLst>
          </p:cNvPr>
          <p:cNvSpPr txBox="1"/>
          <p:nvPr/>
        </p:nvSpPr>
        <p:spPr>
          <a:xfrm>
            <a:off x="733425" y="4840553"/>
            <a:ext cx="49043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975" lvl="0" indent="-180975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ko-KR" altLang="ko-KR" sz="1600" b="1" dirty="0">
                <a:solidFill>
                  <a:srgbClr val="000000"/>
                </a:solidFill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맵</a:t>
            </a:r>
            <a:r>
              <a:rPr lang="ko-KR" altLang="ko-KR" sz="1600" b="1" dirty="0">
                <a:solidFill>
                  <a:srgbClr val="000000"/>
                </a:solidFill>
                <a:effectLst/>
                <a:latin typeface="+mj-lt"/>
                <a:ea typeface="Aptos" panose="020B0004020202020204" pitchFamily="34" charset="0"/>
                <a:cs typeface="굴림" panose="020B0600000101010101" pitchFamily="50" charset="-127"/>
              </a:rPr>
              <a:t> </a:t>
            </a:r>
            <a:r>
              <a:rPr lang="ko-KR" altLang="ko-KR" sz="1600" b="1" dirty="0">
                <a:solidFill>
                  <a:srgbClr val="000000"/>
                </a:solidFill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정보</a:t>
            </a:r>
            <a:r>
              <a:rPr lang="en-US" altLang="ko-KR" sz="1600" b="1" dirty="0">
                <a:solidFill>
                  <a:srgbClr val="000000"/>
                </a:solidFill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ko-KR" altLang="en-US" sz="1600" b="1" dirty="0">
                <a:solidFill>
                  <a:srgbClr val="000000"/>
                </a:solidFill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및 속성</a:t>
            </a:r>
            <a:endParaRPr lang="en-US" altLang="ko-KR" sz="1600" b="1" dirty="0">
              <a:solidFill>
                <a:srgbClr val="000000"/>
              </a:solidFill>
              <a:effectLst/>
              <a:latin typeface="+mj-lt"/>
              <a:ea typeface="굴림" panose="020B0600000101010101" pitchFamily="50" charset="-127"/>
              <a:cs typeface="굴림" panose="020B0600000101010101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A9171F32-CD35-7968-0A0D-302328B07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250923"/>
              </p:ext>
            </p:extLst>
          </p:nvPr>
        </p:nvGraphicFramePr>
        <p:xfrm>
          <a:off x="1064788" y="5210787"/>
          <a:ext cx="4456219" cy="1283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2993">
                  <a:extLst>
                    <a:ext uri="{9D8B030D-6E8A-4147-A177-3AD203B41FA5}">
                      <a16:colId xmlns:a16="http://schemas.microsoft.com/office/drawing/2014/main" val="4039834702"/>
                    </a:ext>
                  </a:extLst>
                </a:gridCol>
                <a:gridCol w="1629093">
                  <a:extLst>
                    <a:ext uri="{9D8B030D-6E8A-4147-A177-3AD203B41FA5}">
                      <a16:colId xmlns:a16="http://schemas.microsoft.com/office/drawing/2014/main" val="675473608"/>
                    </a:ext>
                  </a:extLst>
                </a:gridCol>
                <a:gridCol w="1744133">
                  <a:extLst>
                    <a:ext uri="{9D8B030D-6E8A-4147-A177-3AD203B41FA5}">
                      <a16:colId xmlns:a16="http://schemas.microsoft.com/office/drawing/2014/main" val="35842646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Map Type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Point Cloud (</a:t>
                      </a:r>
                      <a:r>
                        <a:rPr lang="en-US" altLang="ko-KR" sz="1000" dirty="0" err="1"/>
                        <a:t>json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형태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2191679"/>
                  </a:ext>
                </a:extLst>
              </a:tr>
              <a:tr h="2997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Map </a:t>
                      </a:r>
                      <a:r>
                        <a:rPr lang="ko-KR" altLang="en-US" sz="1000" dirty="0"/>
                        <a:t>해상도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10mm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779692"/>
                  </a:ext>
                </a:extLst>
              </a:tr>
              <a:tr h="3202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Map </a:t>
                      </a:r>
                      <a:r>
                        <a:rPr lang="ko-KR" altLang="en-US" sz="1000" dirty="0"/>
                        <a:t>최대 크기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무제한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실제 현장 적용 최대 크기 </a:t>
                      </a:r>
                      <a:r>
                        <a:rPr lang="en-US" altLang="ko-KR" sz="1000" dirty="0"/>
                        <a:t>(600m x 700 m)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9535155"/>
                  </a:ext>
                </a:extLst>
              </a:tr>
              <a:tr h="2997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업데이트 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사용자 맵핑 작업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2522069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428DA4D-4318-16FF-FDF5-829AE86670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018202"/>
              </p:ext>
            </p:extLst>
          </p:nvPr>
        </p:nvGraphicFramePr>
        <p:xfrm>
          <a:off x="6613499" y="1657848"/>
          <a:ext cx="5158076" cy="1845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528">
                  <a:extLst>
                    <a:ext uri="{9D8B030D-6E8A-4147-A177-3AD203B41FA5}">
                      <a16:colId xmlns:a16="http://schemas.microsoft.com/office/drawing/2014/main" val="4039834702"/>
                    </a:ext>
                  </a:extLst>
                </a:gridCol>
                <a:gridCol w="2096798">
                  <a:extLst>
                    <a:ext uri="{9D8B030D-6E8A-4147-A177-3AD203B41FA5}">
                      <a16:colId xmlns:a16="http://schemas.microsoft.com/office/drawing/2014/main" val="675473608"/>
                    </a:ext>
                  </a:extLst>
                </a:gridCol>
                <a:gridCol w="1835750">
                  <a:extLst>
                    <a:ext uri="{9D8B030D-6E8A-4147-A177-3AD203B41FA5}">
                      <a16:colId xmlns:a16="http://schemas.microsoft.com/office/drawing/2014/main" val="35842646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Sense Type</a:t>
                      </a:r>
                      <a:endParaRPr lang="ko-KR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Spec.</a:t>
                      </a:r>
                      <a:endParaRPr lang="ko-KR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2191679"/>
                  </a:ext>
                </a:extLst>
              </a:tr>
              <a:tr h="41340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2D Lidar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해상도</a:t>
                      </a:r>
                      <a:r>
                        <a:rPr lang="en-US" altLang="ko-KR" sz="1000" dirty="0"/>
                        <a:t>: (</a:t>
                      </a:r>
                      <a:r>
                        <a:rPr lang="ko-KR" altLang="en-US" sz="1000" dirty="0"/>
                        <a:t>최소</a:t>
                      </a:r>
                      <a:r>
                        <a:rPr lang="en-US" altLang="ko-KR" sz="1000" dirty="0"/>
                        <a:t>) 20mm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거리측정 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거리</a:t>
                      </a:r>
                      <a:r>
                        <a:rPr lang="en-US" altLang="ko-KR" sz="1000" dirty="0"/>
                        <a:t>: 40m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 err="1"/>
                        <a:t>시야각</a:t>
                      </a:r>
                      <a:r>
                        <a:rPr lang="en-US" altLang="ko-KR" sz="1000" dirty="0"/>
                        <a:t>: 275</a:t>
                      </a:r>
                      <a:r>
                        <a:rPr lang="ko-KR" altLang="en-US" sz="1000" dirty="0"/>
                        <a:t>도</a:t>
                      </a:r>
                      <a:endParaRPr lang="en-US" altLang="ko-K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2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hlinkClick r:id="rId2"/>
                        </a:rPr>
                        <a:t>SICK NanoScan3</a:t>
                      </a:r>
                    </a:p>
                    <a:p>
                      <a:pPr marL="0" marR="0" lvl="0" indent="0" algn="ctr" defTabSz="91442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hlinkClick r:id="rId2"/>
                        </a:rPr>
                        <a:t>NANS3-CAAZ30AA1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779692"/>
                  </a:ext>
                </a:extLst>
              </a:tr>
              <a:tr h="29856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Odometry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로봇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base 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기준 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1mm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이하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회전당 펄스 수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50hz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9535155"/>
                  </a:ext>
                </a:extLst>
              </a:tr>
              <a:tr h="27943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IMU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2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TBD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1530106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F63BB6BA-A753-7DB8-EFF9-EA75014EAB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75802"/>
              </p:ext>
            </p:extLst>
          </p:nvPr>
        </p:nvGraphicFramePr>
        <p:xfrm>
          <a:off x="6613499" y="4934562"/>
          <a:ext cx="5158076" cy="129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528">
                  <a:extLst>
                    <a:ext uri="{9D8B030D-6E8A-4147-A177-3AD203B41FA5}">
                      <a16:colId xmlns:a16="http://schemas.microsoft.com/office/drawing/2014/main" val="4039834702"/>
                    </a:ext>
                  </a:extLst>
                </a:gridCol>
                <a:gridCol w="2096798">
                  <a:extLst>
                    <a:ext uri="{9D8B030D-6E8A-4147-A177-3AD203B41FA5}">
                      <a16:colId xmlns:a16="http://schemas.microsoft.com/office/drawing/2014/main" val="675473608"/>
                    </a:ext>
                  </a:extLst>
                </a:gridCol>
                <a:gridCol w="1835750">
                  <a:extLst>
                    <a:ext uri="{9D8B030D-6E8A-4147-A177-3AD203B41FA5}">
                      <a16:colId xmlns:a16="http://schemas.microsoft.com/office/drawing/2014/main" val="35842646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Sense Type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데이터 주기</a:t>
                      </a:r>
                      <a:r>
                        <a:rPr lang="en-US" altLang="ko-KR" sz="1000" dirty="0"/>
                        <a:t>(Sampling Rate/Hz)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오차범위</a:t>
                      </a:r>
                      <a:r>
                        <a:rPr lang="en-US" altLang="ko-KR" sz="1000" dirty="0"/>
                        <a:t>(Accuracy/Nois)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2191679"/>
                  </a:ext>
                </a:extLst>
              </a:tr>
              <a:tr h="2849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2D Lidar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/>
                        <a:t>18Hz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20mm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779692"/>
                  </a:ext>
                </a:extLst>
              </a:tr>
              <a:tr h="4405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Odometry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50Hz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1m</a:t>
                      </a:r>
                      <a:r>
                        <a:rPr lang="ko-KR" altLang="en-US" sz="1000" dirty="0"/>
                        <a:t>당 </a:t>
                      </a:r>
                      <a:r>
                        <a:rPr lang="en-US" altLang="ko-KR" sz="1000" dirty="0"/>
                        <a:t>10mm </a:t>
                      </a:r>
                      <a:r>
                        <a:rPr lang="ko-KR" altLang="en-US" sz="1000" dirty="0"/>
                        <a:t>이하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오차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단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캘리브레이션 필요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9535155"/>
                  </a:ext>
                </a:extLst>
              </a:tr>
              <a:tr h="2849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IMU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TBD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153010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9CED3A9-F6C2-2D08-D7C4-880DB17169C4}"/>
              </a:ext>
            </a:extLst>
          </p:cNvPr>
          <p:cNvSpPr txBox="1"/>
          <p:nvPr/>
        </p:nvSpPr>
        <p:spPr>
          <a:xfrm>
            <a:off x="6334127" y="1270042"/>
            <a:ext cx="49043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975" lvl="0" indent="-180975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ko-KR" altLang="en-US" sz="1600" b="1" dirty="0">
                <a:solidFill>
                  <a:srgbClr val="000000"/>
                </a:solidFill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주요 센서 하드웨어 스펙</a:t>
            </a:r>
            <a:endParaRPr lang="en-US" altLang="ko-KR" sz="1600" b="1" dirty="0">
              <a:solidFill>
                <a:srgbClr val="000000"/>
              </a:solidFill>
              <a:effectLst/>
              <a:latin typeface="+mj-lt"/>
              <a:ea typeface="굴림" panose="020B0600000101010101" pitchFamily="50" charset="-127"/>
              <a:cs typeface="굴림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F7509F-C803-7191-BC3F-8CAF54A96B5C}"/>
              </a:ext>
            </a:extLst>
          </p:cNvPr>
          <p:cNvSpPr txBox="1"/>
          <p:nvPr/>
        </p:nvSpPr>
        <p:spPr>
          <a:xfrm>
            <a:off x="6613499" y="3581750"/>
            <a:ext cx="5158076" cy="753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b="1" dirty="0"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※ </a:t>
            </a:r>
            <a:r>
              <a:rPr lang="ko-KR" altLang="en-US" sz="1000" b="1" dirty="0"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기본주행 시  </a:t>
            </a:r>
            <a:r>
              <a:rPr lang="en-US" altLang="ko-KR" sz="1000" b="1" dirty="0"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LiDAR + Odom</a:t>
            </a:r>
            <a:r>
              <a:rPr lang="ko-KR" altLang="en-US" sz="1000" b="1" dirty="0"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으로 추정함</a:t>
            </a:r>
            <a:r>
              <a:rPr lang="en-US" altLang="ko-KR" sz="1000" b="1" dirty="0"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.</a:t>
            </a:r>
            <a:br>
              <a:rPr lang="en-US" altLang="ko-KR" sz="1000" b="1" dirty="0"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</a:br>
            <a:r>
              <a:rPr lang="en-US" altLang="ko-KR" sz="1000" b="1" dirty="0"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   </a:t>
            </a:r>
            <a:r>
              <a:rPr lang="ko-KR" altLang="en-US" sz="1000" b="1" dirty="0"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급 가속</a:t>
            </a:r>
            <a:r>
              <a:rPr lang="en-US" altLang="ko-KR" sz="1000" b="1" dirty="0"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/</a:t>
            </a:r>
            <a:r>
              <a:rPr lang="ko-KR" altLang="en-US" sz="1000" b="1" dirty="0"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감속</a:t>
            </a:r>
            <a:r>
              <a:rPr lang="en-US" altLang="ko-KR" sz="1000" b="1" dirty="0"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,</a:t>
            </a:r>
            <a:r>
              <a:rPr lang="ko-KR" altLang="en-US" sz="1000" b="1" dirty="0"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 슬립</a:t>
            </a:r>
            <a:r>
              <a:rPr lang="en-US" altLang="ko-KR" sz="1000" b="1" dirty="0"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,</a:t>
            </a:r>
            <a:r>
              <a:rPr lang="ko-KR" altLang="en-US" sz="1000" b="1" dirty="0"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급회전 시에는 </a:t>
            </a:r>
            <a:r>
              <a:rPr lang="en-US" altLang="ko-KR" sz="1000" b="1" dirty="0"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IMU </a:t>
            </a:r>
            <a:r>
              <a:rPr lang="ko-KR" altLang="en-US" sz="1000" b="1" dirty="0"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데이터를 보조적으로 융합 </a:t>
            </a:r>
            <a:br>
              <a:rPr lang="en-US" altLang="ko-KR" sz="1000" b="1" dirty="0"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</a:br>
            <a:r>
              <a:rPr lang="en-US" altLang="ko-KR" sz="1000" b="1" dirty="0"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   </a:t>
            </a:r>
            <a:r>
              <a:rPr lang="ko-KR" altLang="en-US" sz="1000" b="1" dirty="0"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→ 순간적인 오차를 줄여 줌</a:t>
            </a:r>
            <a:endParaRPr lang="ko-KR" altLang="en-US" sz="1000" dirty="0"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AA9476-0792-EA9A-BB6E-D2966CC43B7B}"/>
              </a:ext>
            </a:extLst>
          </p:cNvPr>
          <p:cNvSpPr txBox="1"/>
          <p:nvPr/>
        </p:nvSpPr>
        <p:spPr>
          <a:xfrm>
            <a:off x="6490999" y="4564328"/>
            <a:ext cx="49043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975" lvl="0" indent="-180975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ko-KR" altLang="en-US" sz="1600" b="1" dirty="0">
                <a:solidFill>
                  <a:srgbClr val="000000"/>
                </a:solidFill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주요 센서 데이터 주기 및 오차범위</a:t>
            </a:r>
            <a:endParaRPr lang="en-US" altLang="ko-KR" sz="1600" b="1" dirty="0">
              <a:solidFill>
                <a:srgbClr val="000000"/>
              </a:solidFill>
              <a:effectLst/>
              <a:latin typeface="+mj-lt"/>
              <a:ea typeface="굴림" panose="020B0600000101010101" pitchFamily="50" charset="-127"/>
              <a:cs typeface="굴림" panose="020B0600000101010101" pitchFamily="50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78420FA-5963-92FF-B565-D222721FBB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" t="3196" r="1182" b="432"/>
          <a:stretch/>
        </p:blipFill>
        <p:spPr bwMode="auto">
          <a:xfrm>
            <a:off x="1064787" y="2834386"/>
            <a:ext cx="2966419" cy="199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5513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26944B-C5DE-7E47-375D-D0444F4A4CB3}"/>
              </a:ext>
            </a:extLst>
          </p:cNvPr>
          <p:cNvSpPr txBox="1"/>
          <p:nvPr/>
        </p:nvSpPr>
        <p:spPr>
          <a:xfrm>
            <a:off x="727921" y="592059"/>
            <a:ext cx="5368079" cy="52322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altLang="ko-KR" sz="2800" b="1" dirty="0">
                <a:solidFill>
                  <a:srgbClr val="3B45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rtifakt Element Black" panose="020B0A03050000020004" pitchFamily="34" charset="0"/>
                <a:cs typeface="Arial" panose="020B0604020202020204" pitchFamily="34" charset="0"/>
              </a:rPr>
              <a:t>SLAM </a:t>
            </a:r>
            <a:r>
              <a:rPr lang="ko-KR" altLang="en-US" sz="2800" b="1" dirty="0">
                <a:solidFill>
                  <a:srgbClr val="3B45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rtifakt Element Black" panose="020B0A03050000020004" pitchFamily="34" charset="0"/>
                <a:cs typeface="Arial" panose="020B0604020202020204" pitchFamily="34" charset="0"/>
              </a:rPr>
              <a:t>사양 </a:t>
            </a:r>
            <a:r>
              <a:rPr lang="en-US" altLang="ko-KR" sz="2800" b="1" dirty="0">
                <a:solidFill>
                  <a:srgbClr val="3B45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rtifakt Element Black" panose="020B0A03050000020004" pitchFamily="34" charset="0"/>
                <a:cs typeface="Arial" panose="020B0604020202020204" pitchFamily="34" charset="0"/>
              </a:rPr>
              <a:t>(</a:t>
            </a:r>
            <a:r>
              <a:rPr lang="ko-KR" altLang="en-US" sz="2800" b="1" dirty="0">
                <a:solidFill>
                  <a:srgbClr val="3B45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rtifakt Element Black" panose="020B0A03050000020004" pitchFamily="34" charset="0"/>
                <a:cs typeface="Arial" panose="020B0604020202020204" pitchFamily="34" charset="0"/>
              </a:rPr>
              <a:t>예시</a:t>
            </a:r>
            <a:r>
              <a:rPr lang="en-US" altLang="ko-KR" sz="2800" b="1" dirty="0">
                <a:solidFill>
                  <a:srgbClr val="3B45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rtifakt Element Black" panose="020B0A03050000020004" pitchFamily="34" charset="0"/>
                <a:cs typeface="Arial" panose="020B0604020202020204" pitchFamily="34" charset="0"/>
              </a:rPr>
              <a:t>) </a:t>
            </a:r>
            <a:endParaRPr lang="ko-KR" altLang="en-US" sz="2800" b="1" dirty="0">
              <a:solidFill>
                <a:srgbClr val="3B455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DA3387-7AE8-01D7-8307-39EC1CF43B19}"/>
              </a:ext>
            </a:extLst>
          </p:cNvPr>
          <p:cNvSpPr txBox="1"/>
          <p:nvPr/>
        </p:nvSpPr>
        <p:spPr>
          <a:xfrm>
            <a:off x="727921" y="1316623"/>
            <a:ext cx="49043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975" lvl="0" indent="-180975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SLAM </a:t>
            </a:r>
            <a:r>
              <a:rPr lang="ko-KR" altLang="en-US" sz="1600" b="1" dirty="0">
                <a:solidFill>
                  <a:srgbClr val="000000"/>
                </a:solidFill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알고리즘 성능 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Spec.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83DEC9A3-9C00-EFC9-25C2-CC83143C55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4416814"/>
              </p:ext>
            </p:extLst>
          </p:nvPr>
        </p:nvGraphicFramePr>
        <p:xfrm>
          <a:off x="1059284" y="1686857"/>
          <a:ext cx="4456219" cy="2102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7412">
                  <a:extLst>
                    <a:ext uri="{9D8B030D-6E8A-4147-A177-3AD203B41FA5}">
                      <a16:colId xmlns:a16="http://schemas.microsoft.com/office/drawing/2014/main" val="4039834702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675473608"/>
                    </a:ext>
                  </a:extLst>
                </a:gridCol>
                <a:gridCol w="1987232">
                  <a:extLst>
                    <a:ext uri="{9D8B030D-6E8A-4147-A177-3AD203B41FA5}">
                      <a16:colId xmlns:a16="http://schemas.microsoft.com/office/drawing/2014/main" val="35842646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Spec.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2191679"/>
                  </a:ext>
                </a:extLst>
              </a:tr>
              <a:tr h="29974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위치 추정 정확도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정지 정밀도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±10mm, ±1</a:t>
                      </a:r>
                      <a:r>
                        <a:rPr lang="ko-KR" altLang="en-US" sz="1000" dirty="0"/>
                        <a:t>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779692"/>
                  </a:ext>
                </a:extLst>
              </a:tr>
              <a:tr h="32027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이동 정밀도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이상 조건 </a:t>
                      </a:r>
                      <a:r>
                        <a:rPr lang="en-US" altLang="ko-KR" sz="1000" dirty="0"/>
                        <a:t>±20mm</a:t>
                      </a:r>
                    </a:p>
                    <a:p>
                      <a:pPr algn="ctr" latinLnBrk="1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(※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특이점 없는 경우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: ±50mm)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9535155"/>
                  </a:ext>
                </a:extLst>
              </a:tr>
              <a:tr h="2997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실시간 처리 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가능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2522069"/>
                  </a:ext>
                </a:extLst>
              </a:tr>
              <a:tr h="2997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최대 매핑 범위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/>
                        <a:t>500m x 500mm (</a:t>
                      </a:r>
                      <a:r>
                        <a:rPr lang="ko-KR" altLang="en-US" sz="1000" dirty="0"/>
                        <a:t>배터리 지속 시간 고려</a:t>
                      </a:r>
                      <a:r>
                        <a:rPr lang="en-US" altLang="ko-KR" sz="1000" dirty="0"/>
                        <a:t>)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맵 병합 및 부분 매핑 가능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9368326"/>
                  </a:ext>
                </a:extLst>
              </a:tr>
              <a:tr h="2997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장애물 처리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/>
                        <a:t>장애물 예측 감지 및 감속</a:t>
                      </a:r>
                      <a:r>
                        <a:rPr lang="en-US" altLang="ko-KR" sz="1000" dirty="0"/>
                        <a:t>.,</a:t>
                      </a:r>
                      <a:r>
                        <a:rPr lang="ko-KR" altLang="en-US" sz="1000" dirty="0"/>
                        <a:t>긴급 정지 가능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2561183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2800FD3D-44E9-A2BD-79D7-948D39E3B2C5}"/>
              </a:ext>
            </a:extLst>
          </p:cNvPr>
          <p:cNvSpPr txBox="1"/>
          <p:nvPr/>
        </p:nvSpPr>
        <p:spPr>
          <a:xfrm>
            <a:off x="727920" y="4088398"/>
            <a:ext cx="4904347" cy="1816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975" lvl="0" indent="-180975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ko-KR" altLang="en-US" sz="1600" b="1" dirty="0">
                <a:solidFill>
                  <a:srgbClr val="000000"/>
                </a:solidFill>
                <a:effectLst/>
                <a:latin typeface="+mj-lt"/>
                <a:ea typeface="굴림" panose="020B0600000101010101" pitchFamily="50" charset="-127"/>
                <a:cs typeface="굴림" panose="020B0600000101010101" pitchFamily="50" charset="-127"/>
              </a:rPr>
              <a:t>인터페이스 및 출력</a:t>
            </a:r>
            <a:endParaRPr lang="en-US" altLang="ko-KR" sz="1600" b="1" dirty="0">
              <a:solidFill>
                <a:srgbClr val="000000"/>
              </a:solidFill>
              <a:effectLst/>
              <a:latin typeface="+mj-lt"/>
              <a:ea typeface="굴림" panose="020B0600000101010101" pitchFamily="50" charset="-127"/>
              <a:cs typeface="굴림" panose="020B0600000101010101" pitchFamily="50" charset="-127"/>
            </a:endParaRPr>
          </a:p>
          <a:p>
            <a:pPr marL="361950" lvl="1" indent="-180975">
              <a:lnSpc>
                <a:spcPct val="150000"/>
              </a:lnSpc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ko-KR" altLang="ko-KR" sz="1200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외부</a:t>
            </a:r>
            <a:r>
              <a:rPr lang="ko-KR" altLang="ko-KR" sz="1200" dirty="0">
                <a:solidFill>
                  <a:srgbClr val="0000FF"/>
                </a:solidFill>
                <a:effectLst/>
                <a:latin typeface="굴림" panose="020B0600000101010101" pitchFamily="50" charset="-127"/>
                <a:ea typeface="Aptos" panose="020B0004020202020204" pitchFamily="34" charset="0"/>
                <a:cs typeface="굴림" panose="020B0600000101010101" pitchFamily="50" charset="-127"/>
              </a:rPr>
              <a:t> </a:t>
            </a:r>
            <a:r>
              <a:rPr lang="ko-KR" altLang="ko-KR" sz="1200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통신을</a:t>
            </a:r>
            <a:r>
              <a:rPr lang="ko-KR" altLang="ko-KR" sz="1200" dirty="0">
                <a:solidFill>
                  <a:srgbClr val="0000FF"/>
                </a:solidFill>
                <a:effectLst/>
                <a:latin typeface="굴림" panose="020B0600000101010101" pitchFamily="50" charset="-127"/>
                <a:ea typeface="Aptos" panose="020B0004020202020204" pitchFamily="34" charset="0"/>
                <a:cs typeface="굴림" panose="020B0600000101010101" pitchFamily="50" charset="-127"/>
              </a:rPr>
              <a:t> </a:t>
            </a:r>
            <a:r>
              <a:rPr lang="ko-KR" altLang="ko-KR" sz="1200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위한</a:t>
            </a:r>
            <a:r>
              <a:rPr lang="en-US" altLang="ko-KR" sz="1200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 MQTT, </a:t>
            </a:r>
            <a:r>
              <a:rPr lang="en-US" altLang="ko-KR" sz="1200" dirty="0" err="1">
                <a:solidFill>
                  <a:srgbClr val="0000FF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zeroMQ</a:t>
            </a:r>
            <a:r>
              <a:rPr lang="en-US" altLang="ko-KR" sz="1200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ko-KR" altLang="ko-KR" sz="1200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방식</a:t>
            </a:r>
            <a:r>
              <a:rPr lang="ko-KR" altLang="ko-KR" sz="1200" dirty="0">
                <a:solidFill>
                  <a:srgbClr val="0000FF"/>
                </a:solidFill>
                <a:effectLst/>
                <a:latin typeface="굴림" panose="020B0600000101010101" pitchFamily="50" charset="-127"/>
                <a:ea typeface="Aptos" panose="020B0004020202020204" pitchFamily="34" charset="0"/>
                <a:cs typeface="굴림" panose="020B0600000101010101" pitchFamily="50" charset="-127"/>
              </a:rPr>
              <a:t> </a:t>
            </a:r>
            <a:r>
              <a:rPr lang="ko-KR" altLang="ko-KR" sz="1200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존재</a:t>
            </a:r>
            <a:r>
              <a:rPr lang="en-US" altLang="ko-KR" sz="1200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 / </a:t>
            </a:r>
            <a:r>
              <a:rPr lang="en-US" altLang="ko-KR" sz="1200" dirty="0" err="1">
                <a:solidFill>
                  <a:srgbClr val="0000FF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ros</a:t>
            </a:r>
            <a:r>
              <a:rPr lang="en-US" altLang="ko-KR" sz="1200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ko-KR" altLang="ko-KR" sz="1200" dirty="0" err="1">
                <a:solidFill>
                  <a:srgbClr val="0000FF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메세지</a:t>
            </a:r>
            <a:r>
              <a:rPr lang="ko-KR" altLang="ko-KR" sz="1200" dirty="0">
                <a:solidFill>
                  <a:srgbClr val="0000FF"/>
                </a:solidFill>
                <a:effectLst/>
                <a:latin typeface="굴림" panose="020B0600000101010101" pitchFamily="50" charset="-127"/>
                <a:ea typeface="Aptos" panose="020B0004020202020204" pitchFamily="34" charset="0"/>
                <a:cs typeface="굴림" panose="020B0600000101010101" pitchFamily="50" charset="-127"/>
              </a:rPr>
              <a:t> </a:t>
            </a:r>
            <a:r>
              <a:rPr lang="ko-KR" altLang="en-US" sz="1200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제공</a:t>
            </a:r>
            <a:br>
              <a:rPr lang="en-US" altLang="ko-KR" sz="1200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</a:br>
            <a:endParaRPr lang="en-US" altLang="ko-KR" sz="1200" dirty="0">
              <a:solidFill>
                <a:srgbClr val="0000FF"/>
              </a:solidFill>
              <a:effectLst/>
              <a:latin typeface="Aptos" panose="020B0004020202020204" pitchFamily="34" charset="0"/>
              <a:ea typeface="굴림" panose="020B0600000101010101" pitchFamily="50" charset="-127"/>
              <a:cs typeface="굴림" panose="020B0600000101010101" pitchFamily="50" charset="-127"/>
            </a:endParaRPr>
          </a:p>
          <a:p>
            <a:pPr marL="361950" lvl="1" indent="-180975">
              <a:lnSpc>
                <a:spcPct val="150000"/>
              </a:lnSpc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ko-KR" altLang="ko-KR" sz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지도</a:t>
            </a:r>
            <a:r>
              <a:rPr lang="ko-KR" altLang="ko-KR" sz="120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Aptos" panose="020B0004020202020204" pitchFamily="34" charset="0"/>
                <a:cs typeface="굴림" panose="020B0600000101010101" pitchFamily="50" charset="-127"/>
              </a:rPr>
              <a:t> </a:t>
            </a:r>
            <a:r>
              <a:rPr lang="ko-KR" altLang="ko-KR" sz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저장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/</a:t>
            </a:r>
            <a:r>
              <a:rPr lang="ko-KR" altLang="ko-KR" sz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불러오기</a:t>
            </a:r>
            <a:r>
              <a:rPr lang="ko-KR" altLang="ko-KR" sz="120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Aptos" panose="020B0004020202020204" pitchFamily="34" charset="0"/>
                <a:cs typeface="굴림" panose="020B0600000101010101" pitchFamily="50" charset="-127"/>
              </a:rPr>
              <a:t> </a:t>
            </a:r>
            <a:r>
              <a:rPr lang="ko-KR" altLang="ko-KR" sz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방식</a:t>
            </a:r>
            <a:r>
              <a:rPr lang="en-US" altLang="ko-KR" sz="1200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br>
              <a:rPr lang="en-US" altLang="ko-KR" sz="1200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</a:br>
            <a:r>
              <a:rPr lang="en-US" altLang="ko-KR" sz="1200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UI </a:t>
            </a:r>
            <a:r>
              <a:rPr lang="ko-KR" altLang="en-US" sz="1200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혹은 </a:t>
            </a:r>
            <a:r>
              <a:rPr lang="en-US" altLang="ko-KR" sz="1200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rest </a:t>
            </a:r>
            <a:r>
              <a:rPr lang="en-US" altLang="ko-KR" sz="1200" dirty="0" err="1">
                <a:solidFill>
                  <a:srgbClr val="0000FF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api</a:t>
            </a:r>
            <a:r>
              <a:rPr lang="ko-KR" altLang="ko-KR" sz="1200" dirty="0" err="1">
                <a:solidFill>
                  <a:srgbClr val="0000FF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를</a:t>
            </a:r>
            <a:r>
              <a:rPr lang="ko-KR" altLang="ko-KR" sz="1200" dirty="0">
                <a:solidFill>
                  <a:srgbClr val="0000FF"/>
                </a:solidFill>
                <a:effectLst/>
                <a:latin typeface="굴림" panose="020B0600000101010101" pitchFamily="50" charset="-127"/>
                <a:ea typeface="Aptos" panose="020B0004020202020204" pitchFamily="34" charset="0"/>
                <a:cs typeface="굴림" panose="020B0600000101010101" pitchFamily="50" charset="-127"/>
              </a:rPr>
              <a:t> </a:t>
            </a:r>
            <a:r>
              <a:rPr lang="ko-KR" altLang="ko-KR" sz="1200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통한</a:t>
            </a:r>
            <a:r>
              <a:rPr lang="en-US" altLang="ko-KR" sz="1200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 map export, import </a:t>
            </a:r>
            <a:r>
              <a:rPr lang="ko-KR" altLang="ko-KR" sz="1200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가능</a:t>
            </a:r>
            <a:br>
              <a:rPr lang="en-US" altLang="ko-KR" sz="1200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</a:br>
            <a:r>
              <a:rPr lang="en-US" altLang="ko-KR" sz="1200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nodes(</a:t>
            </a:r>
            <a:r>
              <a:rPr lang="ko-KR" altLang="ko-KR" sz="1200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도착</a:t>
            </a:r>
            <a:r>
              <a:rPr lang="ko-KR" altLang="ko-KR" sz="1200" dirty="0">
                <a:solidFill>
                  <a:srgbClr val="0000FF"/>
                </a:solidFill>
                <a:effectLst/>
                <a:latin typeface="굴림" panose="020B0600000101010101" pitchFamily="50" charset="-127"/>
                <a:ea typeface="Aptos" panose="020B0004020202020204" pitchFamily="34" charset="0"/>
                <a:cs typeface="굴림" panose="020B0600000101010101" pitchFamily="50" charset="-127"/>
              </a:rPr>
              <a:t> </a:t>
            </a:r>
            <a:r>
              <a:rPr lang="ko-KR" altLang="ko-KR" sz="1200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및</a:t>
            </a:r>
            <a:r>
              <a:rPr lang="ko-KR" altLang="ko-KR" sz="1200" dirty="0">
                <a:solidFill>
                  <a:srgbClr val="0000FF"/>
                </a:solidFill>
                <a:effectLst/>
                <a:latin typeface="굴림" panose="020B0600000101010101" pitchFamily="50" charset="-127"/>
                <a:ea typeface="Aptos" panose="020B0004020202020204" pitchFamily="34" charset="0"/>
                <a:cs typeface="굴림" panose="020B0600000101010101" pitchFamily="50" charset="-127"/>
              </a:rPr>
              <a:t> </a:t>
            </a:r>
            <a:r>
              <a:rPr lang="ko-KR" altLang="ko-KR" sz="1200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경유지</a:t>
            </a:r>
            <a:r>
              <a:rPr lang="ko-KR" altLang="ko-KR" sz="1200" dirty="0">
                <a:solidFill>
                  <a:srgbClr val="0000FF"/>
                </a:solidFill>
                <a:effectLst/>
                <a:latin typeface="굴림" panose="020B0600000101010101" pitchFamily="50" charset="-127"/>
                <a:ea typeface="Aptos" panose="020B0004020202020204" pitchFamily="34" charset="0"/>
                <a:cs typeface="굴림" panose="020B0600000101010101" pitchFamily="50" charset="-127"/>
              </a:rPr>
              <a:t> </a:t>
            </a:r>
            <a:r>
              <a:rPr lang="ko-KR" altLang="ko-KR" sz="1200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정보</a:t>
            </a:r>
            <a:r>
              <a:rPr lang="en-US" altLang="ko-KR" sz="1200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), links(node</a:t>
            </a:r>
            <a:r>
              <a:rPr lang="ko-KR" altLang="ko-KR" sz="1200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간의</a:t>
            </a:r>
            <a:r>
              <a:rPr lang="ko-KR" altLang="ko-KR" sz="1200" dirty="0">
                <a:solidFill>
                  <a:srgbClr val="0000FF"/>
                </a:solidFill>
                <a:effectLst/>
                <a:latin typeface="굴림" panose="020B0600000101010101" pitchFamily="50" charset="-127"/>
                <a:ea typeface="Aptos" panose="020B0004020202020204" pitchFamily="34" charset="0"/>
                <a:cs typeface="굴림" panose="020B0600000101010101" pitchFamily="50" charset="-127"/>
              </a:rPr>
              <a:t> </a:t>
            </a:r>
            <a:r>
              <a:rPr lang="ko-KR" altLang="ko-KR" sz="1200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관계정보</a:t>
            </a:r>
            <a:r>
              <a:rPr lang="en-US" altLang="ko-KR" sz="1200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)</a:t>
            </a:r>
            <a:r>
              <a:rPr lang="ko-KR" altLang="ko-KR" sz="1200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로</a:t>
            </a:r>
            <a:r>
              <a:rPr lang="ko-KR" altLang="ko-KR" sz="1200" dirty="0">
                <a:solidFill>
                  <a:srgbClr val="0000FF"/>
                </a:solidFill>
                <a:effectLst/>
                <a:latin typeface="굴림" panose="020B0600000101010101" pitchFamily="50" charset="-127"/>
                <a:ea typeface="Aptos" panose="020B0004020202020204" pitchFamily="34" charset="0"/>
                <a:cs typeface="굴림" panose="020B0600000101010101" pitchFamily="50" charset="-127"/>
              </a:rPr>
              <a:t> </a:t>
            </a:r>
            <a:r>
              <a:rPr lang="ko-KR" altLang="ko-KR" sz="1200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굴림" panose="020B0600000101010101" pitchFamily="50" charset="-127"/>
                <a:cs typeface="굴림" panose="020B0600000101010101" pitchFamily="50" charset="-127"/>
              </a:rPr>
              <a:t>구성</a:t>
            </a:r>
            <a:endParaRPr lang="en-US" altLang="ko-KR" sz="1200" dirty="0">
              <a:solidFill>
                <a:srgbClr val="000000"/>
              </a:solidFill>
              <a:effectLst/>
              <a:latin typeface="+mj-lt"/>
              <a:ea typeface="굴림" panose="020B0600000101010101" pitchFamily="50" charset="-127"/>
              <a:cs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1552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6CA49D-72CF-782C-C173-DA791DDE8017}"/>
              </a:ext>
            </a:extLst>
          </p:cNvPr>
          <p:cNvSpPr txBox="1"/>
          <p:nvPr/>
        </p:nvSpPr>
        <p:spPr>
          <a:xfrm>
            <a:off x="727921" y="1301508"/>
            <a:ext cx="1074521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1600" dirty="0">
                <a:effectLst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현장의 조도가 낮을 경우</a:t>
            </a:r>
            <a:r>
              <a:rPr lang="en-US" altLang="ko-KR" sz="1600" dirty="0">
                <a:effectLst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, </a:t>
            </a:r>
            <a:r>
              <a:rPr lang="ko-KR" altLang="en-US" sz="1600" dirty="0">
                <a:effectLst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카메라가 마커를 인식하거나 도킹하기 전에 </a:t>
            </a:r>
            <a:r>
              <a:rPr lang="en-US" altLang="ko-KR" sz="1600" dirty="0">
                <a:effectLst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LED </a:t>
            </a:r>
            <a:r>
              <a:rPr lang="ko-KR" altLang="en-US" sz="1600" dirty="0">
                <a:effectLst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등 로봇의 </a:t>
            </a:r>
            <a:r>
              <a:rPr lang="ko-KR" altLang="en-US" sz="1600" dirty="0" err="1">
                <a:effectLst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후레시로</a:t>
            </a:r>
            <a:r>
              <a:rPr lang="ko-KR" altLang="en-US" sz="1600" dirty="0">
                <a:effectLst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마커를 비춰야 할 수도 있는데</a:t>
            </a:r>
            <a:r>
              <a:rPr lang="en-US" altLang="ko-KR" sz="1600" dirty="0">
                <a:effectLst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, </a:t>
            </a:r>
            <a:r>
              <a:rPr lang="ko-KR" altLang="en-US" sz="1600" dirty="0">
                <a:effectLst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현장의 실제 조도는 </a:t>
            </a:r>
            <a:r>
              <a:rPr lang="ko-KR" altLang="en-US" sz="1600" dirty="0" err="1">
                <a:effectLst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어떤가요</a:t>
            </a:r>
            <a:r>
              <a:rPr lang="en-US" altLang="ko-KR" sz="1600" dirty="0">
                <a:effectLst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?</a:t>
            </a:r>
            <a:br>
              <a:rPr lang="en-US" altLang="ko-KR" sz="1600" dirty="0">
                <a:effectLst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</a:br>
            <a:endParaRPr lang="en-US" altLang="ko-KR" sz="1600" dirty="0">
              <a:effectLst/>
              <a:latin typeface="굴림" panose="020B0600000101010101" pitchFamily="50" charset="-127"/>
              <a:ea typeface="굴림" panose="020B0600000101010101" pitchFamily="50" charset="-127"/>
              <a:cs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>
                <a:effectLst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대차가 항상 정위치에 있지 않다면 도킹 전에 어느 정도의 위치 및 방향 오차가 발생할 수 있습니다</a:t>
            </a:r>
            <a:r>
              <a:rPr lang="en-US" altLang="ko-KR" sz="1600" dirty="0">
                <a:effectLst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.</a:t>
            </a:r>
            <a:br>
              <a:rPr lang="en-US" altLang="ko-KR" sz="1600" dirty="0">
                <a:effectLst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</a:br>
            <a:r>
              <a:rPr lang="ko-KR" altLang="en-US" sz="1600" dirty="0">
                <a:effectLst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예상되는 오차 범위는 어느 정도인가요</a:t>
            </a:r>
            <a:r>
              <a:rPr lang="en-US" altLang="ko-KR" sz="1600" dirty="0">
                <a:effectLst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? </a:t>
            </a:r>
            <a:r>
              <a:rPr lang="ko-KR" altLang="en-US" sz="1600" dirty="0">
                <a:effectLst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예를 들어</a:t>
            </a:r>
            <a:r>
              <a:rPr lang="en-US" altLang="ko-KR" sz="1600" dirty="0">
                <a:effectLst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, ±10cm </a:t>
            </a:r>
            <a:r>
              <a:rPr lang="ko-KR" altLang="en-US" sz="1600" dirty="0">
                <a:effectLst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또는 </a:t>
            </a:r>
            <a:r>
              <a:rPr lang="en-US" altLang="ko-KR" sz="1600" dirty="0">
                <a:effectLst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±10</a:t>
            </a:r>
            <a:r>
              <a:rPr lang="ko-KR" altLang="en-US" sz="1600" dirty="0">
                <a:effectLst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도 범위 내에 들어가나요</a:t>
            </a:r>
            <a:r>
              <a:rPr lang="en-US" altLang="ko-KR" sz="1600" dirty="0">
                <a:effectLst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?</a:t>
            </a:r>
            <a:endParaRPr lang="ko-KR" altLang="ko-KR" sz="1600" dirty="0">
              <a:effectLst/>
              <a:latin typeface="굴림" panose="020B0600000101010101" pitchFamily="50" charset="-127"/>
              <a:ea typeface="굴림" panose="020B0600000101010101" pitchFamily="50" charset="-127"/>
              <a:cs typeface="굴림" panose="020B0600000101010101" pitchFamily="50" charset="-127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6C56102-1E59-CB4B-B84D-EB0B859DC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9550" y="923924"/>
            <a:ext cx="939905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" name="그림 5" descr="실내, 기계, 공학, 스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9AA905A-2A82-0FB2-9843-8598A903AB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503" y="2880787"/>
            <a:ext cx="1641443" cy="2090761"/>
          </a:xfrm>
          <a:prstGeom prst="rect">
            <a:avLst/>
          </a:prstGeom>
        </p:spPr>
      </p:pic>
      <p:pic>
        <p:nvPicPr>
          <p:cNvPr id="8" name="그림 7" descr="바퀴, 자동차 부품, 기계, 실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51BCE53-6D96-A639-EA8F-15FD7344C5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503" y="5043501"/>
            <a:ext cx="1641443" cy="123176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A0F7FF0-11E4-1B36-8418-C6AC55BF77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955" y="2908411"/>
            <a:ext cx="6187773" cy="1669615"/>
          </a:xfrm>
          <a:prstGeom prst="rect">
            <a:avLst/>
          </a:prstGeom>
        </p:spPr>
      </p:pic>
      <p:pic>
        <p:nvPicPr>
          <p:cNvPr id="12" name="그림 11" descr="텍스트, 도표, 스크린샷, 평면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00A276C-77B7-305E-1B07-9A824CF820A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9232" y="2880787"/>
            <a:ext cx="2509407" cy="339447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8A47308-5C70-C584-9823-CEB5D4E393F4}"/>
              </a:ext>
            </a:extLst>
          </p:cNvPr>
          <p:cNvSpPr txBox="1"/>
          <p:nvPr/>
        </p:nvSpPr>
        <p:spPr>
          <a:xfrm>
            <a:off x="727921" y="592059"/>
            <a:ext cx="8687012" cy="52322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ko-KR" altLang="en-US" sz="2800" b="1" dirty="0">
                <a:solidFill>
                  <a:srgbClr val="3B45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대차 인지</a:t>
            </a:r>
            <a:r>
              <a:rPr lang="en-US" altLang="ko-KR" sz="2800" b="1" dirty="0">
                <a:solidFill>
                  <a:srgbClr val="3B45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ko-KR" altLang="en-US" sz="2800" b="1" dirty="0">
                <a:solidFill>
                  <a:srgbClr val="3B45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도킹</a:t>
            </a:r>
            <a:r>
              <a:rPr lang="en-US" altLang="ko-KR" sz="2800" b="1" dirty="0">
                <a:solidFill>
                  <a:srgbClr val="3B45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ko-KR" altLang="en-US" sz="2800" b="1" dirty="0">
              <a:solidFill>
                <a:srgbClr val="3B455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780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2144690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3603</TotalTime>
  <Words>417</Words>
  <Application>Microsoft Office PowerPoint</Application>
  <PresentationFormat>와이드스크린</PresentationFormat>
  <Paragraphs>71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7" baseType="lpstr">
      <vt:lpstr>SpoqaHanSans-Light</vt:lpstr>
      <vt:lpstr>굴림</vt:lpstr>
      <vt:lpstr>맑은 고딕</vt:lpstr>
      <vt:lpstr>Aptos</vt:lpstr>
      <vt:lpstr>Arial</vt:lpstr>
      <vt:lpstr>Arial Narrow</vt:lpstr>
      <vt:lpstr>Arial Nova</vt:lpstr>
      <vt:lpstr>Roboto</vt:lpstr>
      <vt:lpstr>Roboto Medium</vt:lpstr>
      <vt:lpstr>Wingdings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이동원</cp:lastModifiedBy>
  <cp:revision>274</cp:revision>
  <cp:lastPrinted>2019-11-19T04:09:01Z</cp:lastPrinted>
  <dcterms:created xsi:type="dcterms:W3CDTF">2019-11-19T00:09:54Z</dcterms:created>
  <dcterms:modified xsi:type="dcterms:W3CDTF">2025-08-18T22:59:42Z</dcterms:modified>
</cp:coreProperties>
</file>